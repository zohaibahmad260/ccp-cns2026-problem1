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the final presentation for CCP-CNS2026 Problem 1 — a secure multi-VLAN enterprise network design built over 5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outline of what we'll cover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goal was to simulate a real enterprise security scenario using GNS3 with Cisco 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member had a distinct role. I managed planning and GitHub. Efan handled all security testing. Abdullah ran formal QA. Tayyab did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topology uses a single Cisco 3725 router with 3 sub-interfaces, one per VLAN. Traffic between VLANs is routed through R1 where ACLs are enforced.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clean /24 subnets, one per VLAN, each with its own DHCP pool and dedicated gateway sub-interface on R1.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named ACLs applied inbound on Fa0/0.10. BLOCK_SALES_TO_ADMIN covers IP-level blocking. BLOCK_DOS_ATTACKER is surgical ICMP blocking from PC1.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12 test cases passed. The most important ones: PC1 is blocked from reaching PC2 and PC3 as expected. DoS simulation confirmed 45 ACL hits.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DoS incident was simulated in Week 3. PC1 flooded all targets with ICMP. The ACL blocked every packet — confirmed by Wireshark and ACL hit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documented all limitations honestly. The biggest is DHCP Snooping not being supported by the GNS3 switch — this is a known constraint, not a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deliverables are organized by week in the GitHub repo. The Week5 folder is our final submission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summarizing the 4 key numbers. Emphasize that everything was validated empirically, not just configured.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| Problem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Multi-VLAN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Design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Access Control &amp; Threat Mitigation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456432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05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Zohaib Ahmad (PM)  ·  M. Efan Amir (Security)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Muhammad Abdullah (QA)  ·  Tayyab Hassan (Docs)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2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github.com/ZohaibAhmad260/CCP-CNS2026-Problem1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923544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235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91440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0759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362456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3624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3533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4650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801368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013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17922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&amp; Topology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224028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240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" y="2231136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Plan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2432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2679192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6791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" y="267004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— ACLs &amp; DoS Mitigation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86868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923544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9235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84648" y="91440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12/12 PASS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130759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1362456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13624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84648" y="13533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Summary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174650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82312" y="1801368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18013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84648" y="17922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Risk Register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218541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82312" y="224028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2240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84648" y="2231136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262432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82312" y="2679192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26791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84648" y="267004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segmented enterprise network isolating three departments with enforced communication policies and DoS threat mitigation.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80360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89888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429000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89888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77640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776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9888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86868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154533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463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Router-on-a-stick inter-VLAN routing (Cisco 3725)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74920" y="20665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9842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ACLs to enforce traffic policies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258775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5054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DoS attack simulation &amp; mitigation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74920" y="310896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02666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SSH-secured remote management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74920" y="363016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5478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12-case test matrix — all PASS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74920" y="41513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4069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via Wireshark + PCAP evidence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Structure &amp; Roles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Four-member team with clear ownership of deliverables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89888"/>
            <a:ext cx="1828800" cy="7315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36192"/>
            <a:ext cx="731520" cy="731520"/>
          </a:xfrm>
          <a:prstGeom prst="ellipse">
            <a:avLst/>
          </a:prstGeom>
          <a:solidFill>
            <a:srgbClr val="028090">
              <a:alpha val="7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Zohaib Ahmad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28090">
              <a:alpha val="4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28016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389888"/>
            <a:ext cx="1828800" cy="73152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536192"/>
            <a:ext cx="731520" cy="731520"/>
          </a:xfrm>
          <a:prstGeom prst="ellipse">
            <a:avLst/>
          </a:prstGeom>
          <a:solidFill>
            <a:srgbClr val="6D28D9">
              <a:alpha val="7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42032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Efan Amir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33472" y="28803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7752" y="32918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Design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Simulation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128016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1389888"/>
            <a:ext cx="1828800" cy="73152"/>
          </a:xfrm>
          <a:prstGeom prst="round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1536192"/>
            <a:ext cx="731520" cy="731520"/>
          </a:xfrm>
          <a:prstGeom prst="ellipse">
            <a:avLst/>
          </a:prstGeom>
          <a:solidFill>
            <a:srgbClr val="0369A1">
              <a:alpha val="75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18304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Abdullah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9744" y="28803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369A1">
              <a:alpha val="45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QA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4024" y="32918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Matrix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03136" y="128016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94576" y="1389888"/>
            <a:ext cx="1828800" cy="7315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3216" y="1536192"/>
            <a:ext cx="731520" cy="731520"/>
          </a:xfrm>
          <a:prstGeom prst="ellipse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43216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94576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Tayyab Hassan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86016" y="28803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D97706">
              <a:alpha val="4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6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Lead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0296" y="32918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Design &amp; Topology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920240" y="2487168"/>
            <a:ext cx="1280160" cy="694944"/>
          </a:xfrm>
          <a:prstGeom prst="roundRect">
            <a:avLst>
              <a:gd name="adj" fmla="val 10526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20240" y="248716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3725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0" y="35204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Switch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3182112"/>
            <a:ext cx="0" cy="338328"/>
          </a:xfrm>
          <a:prstGeom prst="line">
            <a:avLst/>
          </a:prstGeom>
          <a:noFill/>
          <a:ln w="25400">
            <a:solidFill>
              <a:srgbClr val="4A6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5262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DC2626">
              <a:alpha val="18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526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4023360"/>
            <a:ext cx="-1627632" cy="502920"/>
          </a:xfrm>
          <a:prstGeom prst="line">
            <a:avLst/>
          </a:prstGeom>
          <a:noFill/>
          <a:ln w="19050">
            <a:solidFill>
              <a:srgbClr val="4A608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057400" y="45262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4526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192.168.20.11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0" y="4023360"/>
            <a:ext cx="155448" cy="502920"/>
          </a:xfrm>
          <a:prstGeom prst="line">
            <a:avLst/>
          </a:prstGeom>
          <a:noFill/>
          <a:ln w="19050">
            <a:solidFill>
              <a:srgbClr val="4A60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383280" y="45262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D97706">
              <a:alpha val="1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4526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192.168.30.11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0" y="4023360"/>
            <a:ext cx="1481328" cy="502920"/>
          </a:xfrm>
          <a:prstGeom prst="line">
            <a:avLst/>
          </a:prstGeom>
          <a:noFill/>
          <a:ln w="19050">
            <a:solidFill>
              <a:srgbClr val="4A608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28600" y="2743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Fa0/0.10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Fa0/0.20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37560" y="2743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Fa0/0.30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822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3725 (R1) — Router-on-a-stick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GNS3 Ethernet Switch (Layer 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 (Sales)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VPCS — VLAN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 (Eng)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VPCS — VLAN 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 (Admin)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VPCS — VLAN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GNS3 on VirtualBox (E drive)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Sub-interfaces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Fa0/0.10 / .20 / 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846320" y="41605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D6EE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418795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Router-on-a-stick: Single physical interface with 3 sub-interfaces handles all inter-VLAN routing — practical, resource-efficient, and scalable.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Addressing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123444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036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Pool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2940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192.168.10.100–200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94560"/>
            <a:ext cx="502920" cy="123444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27614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192.168.20.0/24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0360" y="27614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7614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192.168.20.11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27614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Pool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192.168.20.100–200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56616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66160"/>
            <a:ext cx="502920" cy="123444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7033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5840" y="4133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" y="4361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192.168.30.0/24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80360" y="4133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80360" y="4361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133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4361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4133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Pool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29400" y="4361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192.168.30.100–200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Controls — ACLs &amp; DoS Mitigation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1874520"/>
          </a:xfrm>
          <a:prstGeom prst="roundRect">
            <a:avLst>
              <a:gd name="adj" fmla="val 4878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BLOCK_SALES_TO_ADMIN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on: </a:t>
            </a:r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Fa0/0.10 inbound
</a:t>
            </a:r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ip 192.168.10.0/24 → 192.168.30.0/24
</a:t>
            </a:r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Sales traffic to Admin subnet dropped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1874520"/>
          </a:xfrm>
          <a:prstGeom prst="roundRect">
            <a:avLst>
              <a:gd name="adj" fmla="val 4878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22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BLOCK_DOS_ATTACKER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on: </a:t>
            </a:r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Fa0/0.10 inbound
</a:t>
            </a:r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icmp host 192.168.10.11 any
</a:t>
            </a:r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ICMP from PC1 dropped — DoS blocked
</a:t>
            </a:r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Hits: </a:t>
            </a:r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confirmed ACL hit counts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529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Policy Matrix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18688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4206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BLOCK_SALES_TO_ADMIN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BLOCK_SALES_TO_ADMIN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Eng/Admin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BLOCK_DOS_ATTACKER (ICMP)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2286000" cy="2011680"/>
          </a:xfrm>
          <a:prstGeom prst="roundRect">
            <a:avLst>
              <a:gd name="adj" fmla="val 6364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686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9718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9992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3767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HIT COUNTS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(DoS Blocked)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749808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3A1C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8229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8229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93008" y="804672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PC1→PC2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024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Type 3 Code 13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44568" y="8229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749808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3A1C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8229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8229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596128" y="804672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PC1→PC3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024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Type 3 Code 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47688" y="8229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749808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0F2D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8229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8229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699248" y="804672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PC2→PC3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1024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45.3ms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50808" y="8229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1335024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3A1C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0" y="140817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1408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93008" y="138988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PC2→PC1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0" y="16093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ACL — No reply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44568" y="140817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1335024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3A1C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140817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408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596128" y="138988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PC3→PC1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16093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ACL — No reply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47688" y="140817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40880" y="1335024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0F2D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32320" y="140817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1408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699248" y="138988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PC3→PC2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32320" y="16093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68.4ms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50808" y="140817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34640" y="1920240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0F2D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926080" y="199339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19933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493008" y="197510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PC2→GW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26080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28.3ms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44568" y="19933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37760" y="1920240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0F2D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029200" y="199339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19933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596128" y="197510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PC1→GW10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0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gateway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647688" y="19933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040880" y="1920240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0F2D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132320" y="199339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0" y="19933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699248" y="197510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PC3→GW30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132320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gateway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750808" y="19933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834640" y="2505456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3A1C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926080" y="257860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0" y="25786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493008" y="2560320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PC1→GW20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926080" y="27797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enforced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544568" y="2578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937760" y="2505456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3A1C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29200" y="257860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25786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596128" y="2560320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Sim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029200" y="27797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hits logged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647688" y="2578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040880" y="2505456"/>
            <a:ext cx="1965960" cy="512064"/>
          </a:xfrm>
          <a:prstGeom prst="roundRect">
            <a:avLst>
              <a:gd name="adj" fmla="val 12500"/>
            </a:avLst>
          </a:prstGeom>
          <a:solidFill>
            <a:srgbClr val="0F2D1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7132320" y="257860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32320" y="25786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699248" y="2560320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Test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132320" y="27797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session opened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750808" y="2578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200400" cy="4023360"/>
          </a:xfrm>
          <a:prstGeom prst="roundRect">
            <a:avLst>
              <a:gd name="adj" fmla="val 285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Brief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— 192.168.10.11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(Sales VLAN)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Flood (DoS Simulation)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4323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hosts across VLANs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626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63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Fa0/0.10 inbound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493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+ ACL hit counter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24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traffic blocked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hit counts confirmed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49040" y="804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Timeline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30752" y="135331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1572768"/>
            <a:ext cx="0" cy="384048"/>
          </a:xfrm>
          <a:prstGeom prst="line">
            <a:avLst/>
          </a:prstGeom>
          <a:noFill/>
          <a:ln w="19050">
            <a:solidFill>
              <a:srgbClr val="7A8FA6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4069080" y="1261872"/>
            <a:ext cx="4709160" cy="512064"/>
          </a:xfrm>
          <a:prstGeom prst="roundRect">
            <a:avLst>
              <a:gd name="adj" fmla="val 12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33088" y="1307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T+0:00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28032" y="12984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ping flood initiated from PC1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33088" y="1536192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monitoring started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30752" y="1956816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2176272"/>
            <a:ext cx="0" cy="384048"/>
          </a:xfrm>
          <a:prstGeom prst="line">
            <a:avLst/>
          </a:prstGeom>
          <a:noFill/>
          <a:ln w="19050">
            <a:solidFill>
              <a:srgbClr val="7A8FA6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4069080" y="1865376"/>
            <a:ext cx="4709160" cy="512064"/>
          </a:xfrm>
          <a:prstGeom prst="roundRect">
            <a:avLst>
              <a:gd name="adj" fmla="val 12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33088" y="1911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T+0:30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28032" y="190195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 detected on Fa0/0.10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33088" y="2139696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hit counter monitored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30752" y="256032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2779776"/>
            <a:ext cx="0" cy="384048"/>
          </a:xfrm>
          <a:prstGeom prst="line">
            <a:avLst/>
          </a:prstGeom>
          <a:noFill/>
          <a:ln w="19050">
            <a:solidFill>
              <a:srgbClr val="7A8FA6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4069080" y="2468880"/>
            <a:ext cx="4709160" cy="512064"/>
          </a:xfrm>
          <a:prstGeom prst="roundRect">
            <a:avLst>
              <a:gd name="adj" fmla="val 12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133088" y="2514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T+1:00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28032" y="250545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ICMP hits confirmed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33088" y="2743200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effectiveness validated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0752" y="316382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0" y="3383280"/>
            <a:ext cx="0" cy="384048"/>
          </a:xfrm>
          <a:prstGeom prst="line">
            <a:avLst/>
          </a:prstGeom>
          <a:noFill/>
          <a:ln w="19050">
            <a:solidFill>
              <a:srgbClr val="7A8FA6"/>
            </a:solidFill>
            <a:prstDash val="sysDot"/>
          </a:ln>
        </p:spPr>
      </p:sp>
      <p:sp>
        <p:nvSpPr>
          <p:cNvPr id="39" name="Shape 37"/>
          <p:cNvSpPr/>
          <p:nvPr/>
        </p:nvSpPr>
        <p:spPr>
          <a:xfrm>
            <a:off x="4069080" y="3072384"/>
            <a:ext cx="4709160" cy="512064"/>
          </a:xfrm>
          <a:prstGeom prst="roundRect">
            <a:avLst>
              <a:gd name="adj" fmla="val 12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33088" y="3118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T+1:30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28032" y="31089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ICMP responses reached target hosts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33088" y="3346704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successfully blocked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30752" y="376732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3986784"/>
            <a:ext cx="0" cy="384048"/>
          </a:xfrm>
          <a:prstGeom prst="line">
            <a:avLst/>
          </a:prstGeom>
          <a:noFill/>
          <a:ln w="19050">
            <a:solidFill>
              <a:srgbClr val="7A8FA6"/>
            </a:solidFill>
            <a:prstDash val="sysDot"/>
          </a:ln>
        </p:spPr>
      </p:sp>
      <p:sp>
        <p:nvSpPr>
          <p:cNvPr id="45" name="Shape 43"/>
          <p:cNvSpPr/>
          <p:nvPr/>
        </p:nvSpPr>
        <p:spPr>
          <a:xfrm>
            <a:off x="4069080" y="3675888"/>
            <a:ext cx="4709160" cy="512064"/>
          </a:xfrm>
          <a:prstGeom prst="roundRect">
            <a:avLst>
              <a:gd name="adj" fmla="val 12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133088" y="3721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T+2:00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28032" y="37124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capture saved as PCAP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33088" y="3950208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archived to GitHub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30752" y="437083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69080" y="4279392"/>
            <a:ext cx="4709160" cy="512064"/>
          </a:xfrm>
          <a:prstGeom prst="roundRect">
            <a:avLst>
              <a:gd name="adj" fmla="val 12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33088" y="43251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T+2:30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28032" y="43159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 drafted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33088" y="4553712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confirmed complete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Risk Register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146304" cy="914400"/>
          </a:xfrm>
          <a:prstGeom prst="roundRect">
            <a:avLst>
              <a:gd name="adj" fmla="val 562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93268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932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092440" y="93268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9326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DHCP Snooping Not Supported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 built-in switch lacks DHCP Snooping. Static IPs used for critical hosts. Documented as known limitation.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85039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47088"/>
            <a:ext cx="146304" cy="914400"/>
          </a:xfrm>
          <a:prstGeom prst="roundRect">
            <a:avLst>
              <a:gd name="adj" fmla="val 562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956816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9568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1956816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9568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19385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VPCS Instead of Real 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2304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Kali/Ubuntu not used. VPCS provided sufficient functionality for ICMP/DoS simulation scope.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871216"/>
            <a:ext cx="85039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71216"/>
            <a:ext cx="146304" cy="914400"/>
          </a:xfrm>
          <a:prstGeom prst="roundRect">
            <a:avLst>
              <a:gd name="adj" fmla="val 562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2980944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980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2440" y="2980944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29809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29626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Router — SPOF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3284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redundancy configured. Out of scope for this simulation. Would require HSRP/dual-router in production.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895344"/>
            <a:ext cx="85039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95344"/>
            <a:ext cx="146304" cy="914400"/>
          </a:xfrm>
          <a:prstGeom prst="roundRect">
            <a:avLst>
              <a:gd name="adj" fmla="val 562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400507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4005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92440" y="400507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40050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" y="39867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Drive Storage Full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435254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GNS3 and project files moved to E drive. No data loss occurred.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github.com/ZohaibAhmad260/CCP-CNS2026-Problem1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5272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527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Week1/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diagram · IP plan PDF · Team charter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235000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3500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Week2/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715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 project file · VLAN config screenshots · SSH test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33756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344728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4472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Week3/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8130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ACL config · Wireshark PCAP files · DoS screenshots · Status report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14300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8888" y="125272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2527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Week4/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6184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running-config.txt · GNS3 .gns3 file · Test matrix DOCX · Status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235000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3500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Week5/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715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· Presentation slides · Incident response report · Video demo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33756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344728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4472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8130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· Team info · Setup instructions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Deployed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975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Engineering · Admin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96312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96312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ACLs Enforced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96312" y="1975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BLOCK_SALES_TO_ADMIN · BLOCK_DOS_ATTACKER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72584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72584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72584" y="1975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formal test matrix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48856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48856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Hits Blocked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48856" y="1975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via ACL counters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6060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6334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segmented enterprise network fully simulated in GNS3 with Cisco IOS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08152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108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stated security objectives met — ACLs, DoS mitigation, SSH management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55701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(DHCP Snooping, single router SPOF) documented with production-ready mitigations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0325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40599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team for real-world Cisco networking, ACL design, and security validation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0" y="4572000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457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CCP-CNS2026 | Secure Multi-VLAN Network Design</dc:title>
  <dc:subject>PptxGenJS Presentation</dc:subject>
  <dc:creator>PptxGenJS</dc:creator>
  <cp:lastModifiedBy>PptxGenJS</cp:lastModifiedBy>
  <cp:revision>1</cp:revision>
  <dcterms:created xsi:type="dcterms:W3CDTF">2026-06-09T18:10:50Z</dcterms:created>
  <dcterms:modified xsi:type="dcterms:W3CDTF">2026-06-09T18:10:50Z</dcterms:modified>
</cp:coreProperties>
</file>